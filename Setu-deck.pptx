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Need predicted by deficit</c:v>
                </c:pt>
              </c:strCache>
            </c:strRef>
          </c:tx>
          <c:spPr>
            <a:solidFill>
              <a:srgbClr val="E0A43B"/>
            </a:solidFill>
            <a:ln w="9525" cap="flat">
              <a:solidFill>
                <a:srgbClr val="0D141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A43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C3A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A43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FC3A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0A43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FC3A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0A43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FC3AE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Afar</c:v>
                  </c:pt>
                  <c:pt idx="1">
                    <c:v>Sitapur</c:v>
                  </c:pt>
                  <c:pt idx="2">
                    <c:v>Liangshan</c:v>
                  </c:pt>
                  <c:pt idx="3">
                    <c:v>NTT</c:v>
                  </c:pt>
                  <c:pt idx="4">
                    <c:v>Dingxi</c:v>
                  </c:pt>
                  <c:pt idx="5">
                    <c:v>Asyut</c:v>
                  </c:pt>
                  <c:pt idx="6">
                    <c:v>Koraput</c:v>
                  </c:pt>
                  <c:pt idx="7">
                    <c:v>Bengaluru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92</c:v>
                </c:pt>
                <c:pt idx="1">
                  <c:v>74</c:v>
                </c:pt>
                <c:pt idx="2">
                  <c:v>71</c:v>
                </c:pt>
                <c:pt idx="3">
                  <c:v>76</c:v>
                </c:pt>
                <c:pt idx="4">
                  <c:v>62</c:v>
                </c:pt>
                <c:pt idx="5">
                  <c:v>70</c:v>
                </c:pt>
                <c:pt idx="6">
                  <c:v>66</c:v>
                </c:pt>
                <c:pt idx="7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barChart>
        <c:barDir val="col"/>
        <c:grouping val="cluster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Requests actually filed</c:v>
                </c:pt>
              </c:strCache>
            </c:strRef>
          </c:tx>
          <c:spPr>
            <a:solidFill>
              <a:srgbClr val="E0A43B"/>
            </a:solidFill>
            <a:ln w="9525" cap="flat">
              <a:solidFill>
                <a:srgbClr val="0D141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A43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C3A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A43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FC3A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0A43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FC3A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0A43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FC3AE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Afar</c:v>
                  </c:pt>
                  <c:pt idx="1">
                    <c:v>Sitapur</c:v>
                  </c:pt>
                  <c:pt idx="2">
                    <c:v>Liangshan</c:v>
                  </c:pt>
                  <c:pt idx="3">
                    <c:v>NTT</c:v>
                  </c:pt>
                  <c:pt idx="4">
                    <c:v>Dingxi</c:v>
                  </c:pt>
                  <c:pt idx="5">
                    <c:v>Asyut</c:v>
                  </c:pt>
                  <c:pt idx="6">
                    <c:v>Koraput</c:v>
                  </c:pt>
                  <c:pt idx="7">
                    <c:v>Bengaluru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31</c:v>
                </c:pt>
                <c:pt idx="1">
                  <c:v>46</c:v>
                </c:pt>
                <c:pt idx="2">
                  <c:v>44</c:v>
                </c:pt>
                <c:pt idx="3">
                  <c:v>55</c:v>
                </c:pt>
                <c:pt idx="4">
                  <c:v>43</c:v>
                </c:pt>
                <c:pt idx="5">
                  <c:v>52</c:v>
                </c:pt>
                <c:pt idx="6">
                  <c:v>58</c:v>
                </c:pt>
                <c:pt idx="7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3A8A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27332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3A8A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3A8A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Funded on Setu ranking</c:v>
                </c:pt>
              </c:strCache>
            </c:strRef>
          </c:tx>
          <c:spPr>
            <a:solidFill>
              <a:srgbClr val="4FC3AE"/>
            </a:solidFill>
            <a:ln w="38100" cap="flat">
              <a:solidFill>
                <a:srgbClr val="4FC3A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C3AE"/>
              </a:solidFill>
              <a:ln w="9525" cap="flat">
                <a:solidFill>
                  <a:srgbClr val="4FC3A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  <c:pt idx="5">
                    <c:v>Q6</c:v>
                  </c:pt>
                  <c:pt idx="6">
                    <c:v>Q7</c:v>
                  </c:pt>
                  <c:pt idx="7">
                    <c:v>Q8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78</c:v>
                </c:pt>
                <c:pt idx="1">
                  <c:v>77</c:v>
                </c:pt>
                <c:pt idx="2">
                  <c:v>75</c:v>
                </c:pt>
                <c:pt idx="3">
                  <c:v>72</c:v>
                </c:pt>
                <c:pt idx="4">
                  <c:v>69</c:v>
                </c:pt>
                <c:pt idx="5">
                  <c:v>66</c:v>
                </c:pt>
                <c:pt idx="6">
                  <c:v>63</c:v>
                </c:pt>
                <c:pt idx="7">
                  <c:v>61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Matched controls</c:v>
                </c:pt>
              </c:strCache>
            </c:strRef>
          </c:tx>
          <c:spPr>
            <a:solidFill>
              <a:srgbClr val="6C817B"/>
            </a:solidFill>
            <a:ln w="38100" cap="flat">
              <a:solidFill>
                <a:srgbClr val="6C81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C817B"/>
              </a:solidFill>
              <a:ln w="9525" cap="flat">
                <a:solidFill>
                  <a:srgbClr val="6C81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  <c:pt idx="5">
                    <c:v>Q6</c:v>
                  </c:pt>
                  <c:pt idx="6">
                    <c:v>Q7</c:v>
                  </c:pt>
                  <c:pt idx="7">
                    <c:v>Q8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77</c:v>
                </c:pt>
                <c:pt idx="1">
                  <c:v>77</c:v>
                </c:pt>
                <c:pt idx="2">
                  <c:v>76</c:v>
                </c:pt>
                <c:pt idx="3">
                  <c:v>76</c:v>
                </c:pt>
                <c:pt idx="4">
                  <c:v>75</c:v>
                </c:pt>
                <c:pt idx="5">
                  <c:v>75</c:v>
                </c:pt>
                <c:pt idx="6">
                  <c:v>74</c:v>
                </c:pt>
                <c:pt idx="7">
                  <c:v>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3A8A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2"/>
          <c:min val="55"/>
        </c:scaling>
        <c:delete val="0"/>
        <c:axPos val="l"/>
        <c:majorGridlines>
          <c:spPr>
            <a:ln w="12700" cap="flat">
              <a:solidFill>
                <a:srgbClr val="27332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3A8A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3A8A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Setu means "bridge". The bridge is between what a citizen says and where a ministry spends. 16 sub-national units, 8 BRICS+ states, 8 languages in the working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remember one slide, this is it. Demo moment: toggle the correction off and on and watch the ranking reorder.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from the synthetic demo cohort, normalised 0-100. The shape of the gap is the point, not the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820010"/>
            <a:ext cx="45720" cy="746150"/>
          </a:xfrm>
          <a:prstGeom prst="rect">
            <a:avLst/>
          </a:prstGeom>
          <a:solidFill>
            <a:srgbClr val="2E8C7C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83673"/>
            <a:ext cx="45720" cy="2182487"/>
          </a:xfrm>
          <a:prstGeom prst="rect">
            <a:avLst/>
          </a:prstGeom>
          <a:solidFill>
            <a:srgbClr val="4FC3AE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" y="2449881"/>
            <a:ext cx="45720" cy="1116279"/>
          </a:xfrm>
          <a:prstGeom prst="rect">
            <a:avLst/>
          </a:prstGeom>
          <a:solidFill>
            <a:srgbClr val="E0A43B"/>
          </a:solidFill>
          <a:ln/>
        </p:spPr>
      </p:sp>
      <p:sp>
        <p:nvSpPr>
          <p:cNvPr id="5" name="Shape 3"/>
          <p:cNvSpPr/>
          <p:nvPr/>
        </p:nvSpPr>
        <p:spPr>
          <a:xfrm>
            <a:off x="923544" y="1479051"/>
            <a:ext cx="45720" cy="2087109"/>
          </a:xfrm>
          <a:prstGeom prst="rect">
            <a:avLst/>
          </a:prstGeom>
          <a:solidFill>
            <a:srgbClr val="DE7B45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104331"/>
            <a:ext cx="45720" cy="1461829"/>
          </a:xfrm>
          <a:prstGeom prst="rect">
            <a:avLst/>
          </a:prstGeom>
          <a:solidFill>
            <a:srgbClr val="E2705F"/>
          </a:solidFill>
          <a:ln/>
        </p:spPr>
      </p:sp>
      <p:sp>
        <p:nvSpPr>
          <p:cNvPr id="7" name="Shape 5"/>
          <p:cNvSpPr/>
          <p:nvPr/>
        </p:nvSpPr>
        <p:spPr>
          <a:xfrm>
            <a:off x="1161288" y="1663473"/>
            <a:ext cx="45720" cy="1902687"/>
          </a:xfrm>
          <a:prstGeom prst="rect">
            <a:avLst/>
          </a:prstGeom>
          <a:solidFill>
            <a:srgbClr val="4FC3A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1806304"/>
            <a:ext cx="45720" cy="1759856"/>
          </a:xfrm>
          <a:prstGeom prst="rect">
            <a:avLst/>
          </a:prstGeom>
          <a:solidFill>
            <a:srgbClr val="2E8C7C"/>
          </a:solidFill>
          <a:ln/>
        </p:spPr>
      </p:sp>
      <p:sp>
        <p:nvSpPr>
          <p:cNvPr id="9" name="Shape 7"/>
          <p:cNvSpPr/>
          <p:nvPr/>
        </p:nvSpPr>
        <p:spPr>
          <a:xfrm>
            <a:off x="1399032" y="1924694"/>
            <a:ext cx="45720" cy="1641466"/>
          </a:xfrm>
          <a:prstGeom prst="rect">
            <a:avLst/>
          </a:prstGeom>
          <a:solidFill>
            <a:srgbClr val="E0A4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3886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spc="100" kern="0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</a:t>
            </a:r>
            <a:endParaRPr lang="en-US" sz="6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7548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signal to national capital plan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257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multilingual Digital Public Good that turns what citizens ask for into a ranked, auditable national investment order — and corrects for who never gets heard.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330184" y="5257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C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· AI for Digital Public Infrastructure &amp; Governance</a:t>
            </a:r>
            <a:endParaRPr lang="en-US" sz="1100" dirty="0"/>
          </a:p>
          <a:p>
            <a:pPr algn="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C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BRICS Theme: Innovation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requests live in systems that never meet the budget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feedback is collected in fragments — helplines, paper petitions, ward meetings, a dozen apps. None of it reaches the spreadsheet where capital is actually allocated.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423160"/>
            <a:ext cx="3493008" cy="2286000"/>
          </a:xfrm>
          <a:prstGeom prst="roundRect">
            <a:avLst>
              <a:gd name="adj" fmla="val 2400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2734056"/>
            <a:ext cx="384048" cy="384048"/>
          </a:xfrm>
          <a:prstGeom prst="ellipse">
            <a:avLst/>
          </a:prstGeom>
          <a:solidFill>
            <a:srgbClr val="4FC3A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77824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325526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3639312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sit in channels that never reconcile. The same grievance is filed in four places and counted four times, or zero.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79392" y="2423160"/>
            <a:ext cx="3493008" cy="2286000"/>
          </a:xfrm>
          <a:prstGeom prst="roundRect">
            <a:avLst>
              <a:gd name="adj" fmla="val 2400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2734056"/>
            <a:ext cx="384048" cy="384048"/>
          </a:xfrm>
          <a:prstGeom prst="ellipse">
            <a:avLst/>
          </a:prstGeom>
          <a:solidFill>
            <a:srgbClr val="4FC3A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0288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325526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Misaligned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3639312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plans are set against political and administrative convenience, not measured need. Nothing reports the divergence.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91856" y="2423160"/>
            <a:ext cx="3493008" cy="2286000"/>
          </a:xfrm>
          <a:prstGeom prst="roundRect">
            <a:avLst>
              <a:gd name="adj" fmla="val 2400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2752" y="2734056"/>
            <a:ext cx="384048" cy="384048"/>
          </a:xfrm>
          <a:prstGeom prst="ellipse">
            <a:avLst/>
          </a:prstGeom>
          <a:solidFill>
            <a:srgbClr val="4FC3A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02752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325526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Unmeasured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302752" y="3639312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 group, no counterfactual. Nobody can say whether a digital public infrastructure programme changed an outcome.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4983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public money moves, and no one can prove it moved to the right place.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6C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 ·  BRICS+ TRACK 1  ·  DIGITAL PUBLIC INFRASTRUCTURE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073384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MOST CITIZEN PLATFORMS MAKE THIS WORSE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feedback platform funds whoever shouts loudest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5349240" cy="3200400"/>
          </a:xfrm>
          <a:prstGeom prst="roundRect">
            <a:avLst>
              <a:gd name="adj" fmla="val 1714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2450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70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failure mode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852928"/>
            <a:ext cx="4617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E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is not need.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district with poor connectivity, low literacy and no smartphone penetration files fewer requests — regardless of how bad its infrastructure is.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request volume and you build a machine that reliably funds the connected and starves the silent. The platform becomes a new source of inequity wearing the language of participation.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81928" y="2148840"/>
            <a:ext cx="5349240" cy="3200400"/>
          </a:xfrm>
          <a:prstGeom prst="roundRect">
            <a:avLst>
              <a:gd name="adj" fmla="val 1714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450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Setu does instead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852928"/>
            <a:ext cx="4617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E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gap, then close it.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computes expected demand from population × infrastructure deficit, compares it to observed requests, and publishes the difference as a voice gap.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demand term blends 60% observed volume with 40% imputed latent demand. Every uplift is flagged, never silent, and triggers an outbound survey before capital is released.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0A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design decision that separates Setu from a suggestion box.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6C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 ·  BRICS+ TRACK 1  ·  DIGITAL PUBLIC INFRASTRUCTURE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1073384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pipeline: utterance to allocation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384048" cy="384048"/>
          </a:xfrm>
          <a:prstGeom prst="ellipse">
            <a:avLst/>
          </a:prstGeom>
          <a:solidFill>
            <a:srgbClr val="4FC3A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3856" y="21762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852928" y="216712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IVR voice, WhatsApp, SMS, kiosk. Voice first — it is the only channel that works for a non-literate citizen.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980944"/>
            <a:ext cx="384048" cy="384048"/>
          </a:xfrm>
          <a:prstGeom prst="ellipse">
            <a:avLst/>
          </a:prstGeom>
          <a:solidFill>
            <a:srgbClr val="4FC3A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33856" y="296265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852928" y="2953512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ASR, NLLB pivot translation, a fine-tuned XLM-R classifier for sector, urgency and sentiment. Open weights, self-hostable.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767328"/>
            <a:ext cx="384048" cy="384048"/>
          </a:xfrm>
          <a:prstGeom prst="ellipse">
            <a:avLst/>
          </a:prstGeom>
          <a:solidFill>
            <a:srgbClr val="4FC3A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" y="37490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852928" y="3739896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district ledger, open JSON schema. PII split at ingest — the aggregation store never holds a phone number.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553712"/>
            <a:ext cx="384048" cy="384048"/>
          </a:xfrm>
          <a:prstGeom prst="ellipse">
            <a:avLst/>
          </a:prstGeom>
          <a:solidFill>
            <a:srgbClr val="4FC3A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" y="453542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852928" y="45262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to census, national infrastructure deficit index and published capital budgets. Deduplicate so one grievance filed 400 times counts once, with strength 400.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5340096"/>
            <a:ext cx="384048" cy="384048"/>
          </a:xfrm>
          <a:prstGeom prst="ellipse">
            <a:avLst/>
          </a:prstGeom>
          <a:solidFill>
            <a:srgbClr val="4FC3A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" y="532180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2852928" y="531266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weighted scoring with latent-demand correction, published weights, and divergence against the current plan.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6C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 ·  BRICS+ TRACK 1  ·  DIGITAL PUBLIC INFRASTRUCTURE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1073384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languages, four channels, one structured record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in the prototype today: type any of these and the classifier tags sector, urgency and confidence — running entirely on-device, the same build a district office with no connectivity would use.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2523744" cy="566928"/>
          </a:xfrm>
          <a:prstGeom prst="roundRect">
            <a:avLst>
              <a:gd name="adj" fmla="val 9677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24688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73552" y="2468880"/>
            <a:ext cx="2523744" cy="566928"/>
          </a:xfrm>
          <a:prstGeom prst="roundRect">
            <a:avLst>
              <a:gd name="adj" fmla="val 9677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24688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Portuguese (BR)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80176" y="2468880"/>
            <a:ext cx="2523744" cy="566928"/>
          </a:xfrm>
          <a:prstGeom prst="roundRect">
            <a:avLst>
              <a:gd name="adj" fmla="val 9677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81344" y="24688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0" y="2468880"/>
            <a:ext cx="2523744" cy="566928"/>
          </a:xfrm>
          <a:prstGeom prst="roundRect">
            <a:avLst>
              <a:gd name="adj" fmla="val 9677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87968" y="24688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Mandarin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218688"/>
            <a:ext cx="2523744" cy="566928"/>
          </a:xfrm>
          <a:prstGeom prst="roundRect">
            <a:avLst>
              <a:gd name="adj" fmla="val 9677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" y="321868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isiZulu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73552" y="3218688"/>
            <a:ext cx="2523744" cy="566928"/>
          </a:xfrm>
          <a:prstGeom prst="roundRect">
            <a:avLst>
              <a:gd name="adj" fmla="val 9677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4720" y="321868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80176" y="3218688"/>
            <a:ext cx="2523744" cy="566928"/>
          </a:xfrm>
          <a:prstGeom prst="roundRect">
            <a:avLst>
              <a:gd name="adj" fmla="val 9677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81344" y="321868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Bahasa Indonesia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686800" y="3218688"/>
            <a:ext cx="2523744" cy="566928"/>
          </a:xfrm>
          <a:prstGeom prst="roundRect">
            <a:avLst>
              <a:gd name="adj" fmla="val 9677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87968" y="321868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4133088"/>
            <a:ext cx="10881360" cy="1600200"/>
          </a:xfrm>
          <a:prstGeom prst="roundRect">
            <a:avLst>
              <a:gd name="adj" fmla="val 3429"/>
            </a:avLst>
          </a:prstGeom>
          <a:solidFill>
            <a:srgbClr val="1E2A27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43342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4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6085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isiZulu, via IVR:  "Asinawo amanzi ahlanzekile, sithatha amanzi emfuleni, izingane ziyagula izinyanga eziningi"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956048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sector: water  ·  secondary: health  ·  urgency: CRITICAL (3 duration and harm markers)  ·  confidence 0.88  ·  geo: ZA-EC-ORT  ·  routed to demand index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528523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0.60 confidence a record routes to human review rather than silently entering the index.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6C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 ·  BRICS+ TRACK 1  ·  DIGITAL PUBLIC INFRASTRUCTURE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1073384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hotspots, geographically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per 100,000 residents — a rate, never a raw count, so a metro of 12 million cannot drown out a district of 900,000.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6766560" cy="3291840"/>
          </a:xfrm>
          <a:prstGeom prst="roundRect">
            <a:avLst>
              <a:gd name="adj" fmla="val 1667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60604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3D demand globe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017520"/>
            <a:ext cx="6035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pillar is a sub-national unit at its true geographic centroid. Height is the live priority score, colour the severity band.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 weight on the priority engine and the planet re-extrudes — it is a view onto the model, not a separate illustration. Select a member state to fly to it and dim the rest, which gives each national policymaker their own lens on a shared index.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32688" y="5253228"/>
            <a:ext cx="45720" cy="233172"/>
          </a:xfrm>
          <a:prstGeom prst="rect">
            <a:avLst/>
          </a:prstGeom>
          <a:solidFill>
            <a:srgbClr val="2E8C7C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4804373"/>
            <a:ext cx="45720" cy="682027"/>
          </a:xfrm>
          <a:prstGeom prst="rect">
            <a:avLst/>
          </a:prstGeom>
          <a:solidFill>
            <a:srgbClr val="4FC3AE"/>
          </a:solidFill>
          <a:ln/>
        </p:spPr>
      </p:sp>
      <p:sp>
        <p:nvSpPr>
          <p:cNvPr id="10" name="Shape 8"/>
          <p:cNvSpPr/>
          <p:nvPr/>
        </p:nvSpPr>
        <p:spPr>
          <a:xfrm>
            <a:off x="1170432" y="5137563"/>
            <a:ext cx="45720" cy="348837"/>
          </a:xfrm>
          <a:prstGeom prst="rect">
            <a:avLst/>
          </a:prstGeom>
          <a:solidFill>
            <a:srgbClr val="E0A43B"/>
          </a:solidFill>
          <a:ln/>
        </p:spPr>
      </p:sp>
      <p:sp>
        <p:nvSpPr>
          <p:cNvPr id="11" name="Shape 9"/>
          <p:cNvSpPr/>
          <p:nvPr/>
        </p:nvSpPr>
        <p:spPr>
          <a:xfrm>
            <a:off x="1289304" y="4834178"/>
            <a:ext cx="45720" cy="652222"/>
          </a:xfrm>
          <a:prstGeom prst="rect">
            <a:avLst/>
          </a:prstGeom>
          <a:solidFill>
            <a:srgbClr val="DE7B45"/>
          </a:solidFill>
          <a:ln/>
        </p:spPr>
      </p:sp>
      <p:sp>
        <p:nvSpPr>
          <p:cNvPr id="12" name="Shape 10"/>
          <p:cNvSpPr/>
          <p:nvPr/>
        </p:nvSpPr>
        <p:spPr>
          <a:xfrm>
            <a:off x="1408176" y="5029578"/>
            <a:ext cx="45720" cy="456822"/>
          </a:xfrm>
          <a:prstGeom prst="rect">
            <a:avLst/>
          </a:prstGeom>
          <a:solidFill>
            <a:srgbClr val="E2705F"/>
          </a:solidFill>
          <a:ln/>
        </p:spPr>
      </p:sp>
      <p:sp>
        <p:nvSpPr>
          <p:cNvPr id="13" name="Shape 11"/>
          <p:cNvSpPr/>
          <p:nvPr/>
        </p:nvSpPr>
        <p:spPr>
          <a:xfrm>
            <a:off x="1527048" y="4891810"/>
            <a:ext cx="45720" cy="594590"/>
          </a:xfrm>
          <a:prstGeom prst="rect">
            <a:avLst/>
          </a:prstGeom>
          <a:solidFill>
            <a:srgbClr val="E0A43B"/>
          </a:solidFill>
          <a:ln/>
        </p:spPr>
      </p:sp>
      <p:sp>
        <p:nvSpPr>
          <p:cNvPr id="14" name="Shape 12"/>
          <p:cNvSpPr/>
          <p:nvPr/>
        </p:nvSpPr>
        <p:spPr>
          <a:xfrm>
            <a:off x="1645920" y="4936445"/>
            <a:ext cx="45720" cy="549955"/>
          </a:xfrm>
          <a:prstGeom prst="rect">
            <a:avLst/>
          </a:prstGeom>
          <a:solidFill>
            <a:srgbClr val="4FC3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764792" y="4973442"/>
            <a:ext cx="45720" cy="512958"/>
          </a:xfrm>
          <a:prstGeom prst="rect">
            <a:avLst/>
          </a:prstGeom>
          <a:solidFill>
            <a:srgbClr val="2E8C7C"/>
          </a:solidFill>
          <a:ln/>
        </p:spPr>
      </p:sp>
      <p:sp>
        <p:nvSpPr>
          <p:cNvPr id="16" name="Shape 14"/>
          <p:cNvSpPr/>
          <p:nvPr/>
        </p:nvSpPr>
        <p:spPr>
          <a:xfrm>
            <a:off x="1883664" y="4864347"/>
            <a:ext cx="45720" cy="622053"/>
          </a:xfrm>
          <a:prstGeom prst="rect">
            <a:avLst/>
          </a:prstGeom>
          <a:solidFill>
            <a:srgbClr val="4FC3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002536" y="5073652"/>
            <a:ext cx="45720" cy="412748"/>
          </a:xfrm>
          <a:prstGeom prst="rect">
            <a:avLst/>
          </a:prstGeom>
          <a:solidFill>
            <a:srgbClr val="E2705F"/>
          </a:solidFill>
          <a:ln/>
        </p:spPr>
      </p:sp>
      <p:sp>
        <p:nvSpPr>
          <p:cNvPr id="18" name="Shape 16"/>
          <p:cNvSpPr/>
          <p:nvPr/>
        </p:nvSpPr>
        <p:spPr>
          <a:xfrm>
            <a:off x="2121408" y="4818073"/>
            <a:ext cx="45720" cy="668327"/>
          </a:xfrm>
          <a:prstGeom prst="rect">
            <a:avLst/>
          </a:prstGeom>
          <a:solidFill>
            <a:srgbClr val="E0A43B"/>
          </a:solidFill>
          <a:ln/>
        </p:spPr>
      </p:sp>
      <p:sp>
        <p:nvSpPr>
          <p:cNvPr id="19" name="Shape 17"/>
          <p:cNvSpPr/>
          <p:nvPr/>
        </p:nvSpPr>
        <p:spPr>
          <a:xfrm>
            <a:off x="2240280" y="5185787"/>
            <a:ext cx="45720" cy="300613"/>
          </a:xfrm>
          <a:prstGeom prst="rect">
            <a:avLst/>
          </a:prstGeom>
          <a:solidFill>
            <a:srgbClr val="4FC3AE"/>
          </a:solidFill>
          <a:ln/>
        </p:spPr>
      </p:sp>
      <p:sp>
        <p:nvSpPr>
          <p:cNvPr id="20" name="Shape 18"/>
          <p:cNvSpPr/>
          <p:nvPr/>
        </p:nvSpPr>
        <p:spPr>
          <a:xfrm>
            <a:off x="7699248" y="2331720"/>
            <a:ext cx="3749040" cy="3291840"/>
          </a:xfrm>
          <a:prstGeom prst="roundRect">
            <a:avLst>
              <a:gd name="adj" fmla="val 1667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28432" y="26060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analytic view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028432" y="3017520"/>
            <a:ext cx="31272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16 × 8 intensity matrix sits beneath the globe: read down a column for a cross-border sector signal, across a row for one district’s own priority order.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doubles as the fallback for any device without WebGL, so the analysis degrades to a working table rather than an empty box.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6C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 ·  BRICS+ TRACK 1  ·  DIGITAL PUBLIC INFRASTRUCTURE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1073384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scoring function a citizen can reconstruct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103120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1E2A27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03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C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 =  ( 40·Demand*  +  25·Deficit  +  20·Equity  +  15·FundingGap )  ÷  100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50545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8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Demand* = 0.6 · observed requests per capita  +  0.4 · expected demand from population × deficit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3127248"/>
            <a:ext cx="3493008" cy="2240280"/>
          </a:xfrm>
          <a:prstGeom prst="roundRect">
            <a:avLst>
              <a:gd name="adj" fmla="val 2449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34015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FC3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Weights are policy, not code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4041648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weight is a slider on the console. A government encodes its stated doctrine and the deck, the dashboard and the citizen all read the same numbers.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79392" y="3127248"/>
            <a:ext cx="3493008" cy="2240280"/>
          </a:xfrm>
          <a:prstGeom prst="roundRect">
            <a:avLst>
              <a:gd name="adj" fmla="val 2449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34015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FC3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Denominated in local currency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4041648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are held in each state’s currency of record and converted for cross-border comparison. The console defaults to the rupee; six currencies are selectable.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91856" y="3127248"/>
            <a:ext cx="3493008" cy="2240280"/>
          </a:xfrm>
          <a:prstGeom prst="roundRect">
            <a:avLst>
              <a:gd name="adj" fmla="val 2449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84464" y="34015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FC3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against the capital plan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284464" y="4041648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unit is ranked a second time by committed capital per capita. The difference between the two ranks is the misalignment — the number that starts a cabinet conversation.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0A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demo cohort, 7 of 16 units rank at least three places higher on evidence than on committed capital.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6C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 ·  BRICS+ TRACK 1  ·  DIGITAL PUBLIC INFRASTRUCTURE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073384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CORRECTION AT 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reports, against who actually needs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2148840"/>
          <a:ext cx="6949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82128" y="2148840"/>
            <a:ext cx="3566160" cy="3566160"/>
          </a:xfrm>
          <a:prstGeom prst="roundRect">
            <a:avLst>
              <a:gd name="adj" fmla="val 1538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11312" y="24231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it this way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11312" y="2798064"/>
            <a:ext cx="294436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amber bar towers over the jade one, a place needs far more than it asks for. Afar files at 31 against a need of 92.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is the mirror image: maximum participation, lowest deficit in the cohort. A naive ranking puts it first.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lifts the under-heard without inventing demand — the uplift is bounded at 40% and flagged on the record.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6C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 ·  BRICS+ TRACK 1  ·  DIGITAL PUBLIC INFRASTRUCTURE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1073384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 the money change anything?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that only ranks is an opinion generator. Setu ships a matched-control design so a ministry can state, with evidence, whether units funded on its advice improved faster than comparable units that were not.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2743200"/>
          <a:ext cx="68580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90688" y="2743200"/>
            <a:ext cx="3657600" cy="2926080"/>
          </a:xfrm>
          <a:prstGeom prst="roundRect">
            <a:avLst>
              <a:gd name="adj" fmla="val 1875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19872" y="296265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A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pts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119872" y="362102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gap in the deficit index at 24 months — the only number that proves the platform mattered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119872" y="4572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C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design, not observed results. No real programme has run through Setu yet; the curves show the evaluation the platform is built to support.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6C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 ·  BRICS+ TRACK 1  ·  DIGITAL PUBLIC INFRASTRUCTURE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11073384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10312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1E2A27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21031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852928" y="21031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Asterisk IVR · WhatsApp Business API · SMS gateway · kiosk PWA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761488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276148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852928" y="276148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Whisper-large-v3 ASR · IndicTrans2 / NLLB-200 pivot translation · fine-tuned XLM-R classifier. Open weights, sovereign-cloud deployable.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419856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1E2A27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" y="341985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852928" y="3419856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district ledger · open JSON schema · per-record provenance · PII separated at ingest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4078224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" y="407822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852928" y="407822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· national infrastructure deficit index · published capital budgets · near-duplicate clustering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736592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1E2A27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9536" y="473659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852928" y="4736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weighted scoring · latent-demand correction · plan-divergence reporting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539496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9536" y="53949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852928" y="53949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Next.js with React Three Fiber, served as a PWA against the same open API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6C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 ·  BRICS+ TRACK 1  ·  DIGITAL PUBLIC INFRASTRUCTURE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1073384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PUBLIC GOOD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adopted, forked and audited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212848"/>
            <a:ext cx="5321808" cy="1005840"/>
          </a:xfrm>
          <a:prstGeom prst="roundRect">
            <a:avLst>
              <a:gd name="adj" fmla="val 5455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523744"/>
            <a:ext cx="384048" cy="384048"/>
          </a:xfrm>
          <a:prstGeom prst="ellipse">
            <a:avLst/>
          </a:prstGeom>
          <a:solidFill>
            <a:srgbClr val="4FC3A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08176" y="2377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licence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408176" y="267004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AGPL-3.0 for the platform, CC-BY-4.0 for the schema and sector taxonomy.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99048" y="2212848"/>
            <a:ext cx="5321808" cy="1005840"/>
          </a:xfrm>
          <a:prstGeom prst="roundRect">
            <a:avLst>
              <a:gd name="adj" fmla="val 5455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73368" y="2523744"/>
            <a:ext cx="384048" cy="384048"/>
          </a:xfrm>
          <a:prstGeom prst="ellipse">
            <a:avLst/>
          </a:prstGeom>
          <a:solidFill>
            <a:srgbClr val="4FC3A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73368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40296" y="2377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standards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940296" y="267004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OpenAPI, ISO 3166-2 sub-national codes, SDG-aligned sector families.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383280"/>
            <a:ext cx="5321808" cy="1005840"/>
          </a:xfrm>
          <a:prstGeom prst="roundRect">
            <a:avLst>
              <a:gd name="adj" fmla="val 5455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3694176"/>
            <a:ext cx="384048" cy="384048"/>
          </a:xfrm>
          <a:prstGeom prst="ellipse">
            <a:avLst/>
          </a:prstGeom>
          <a:solidFill>
            <a:srgbClr val="4FC3A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08176" y="35478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independence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408176" y="384048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managed-cloud primitives. Postgres, object storage, containers.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99048" y="3383280"/>
            <a:ext cx="5321808" cy="1005840"/>
          </a:xfrm>
          <a:prstGeom prst="roundRect">
            <a:avLst>
              <a:gd name="adj" fmla="val 5455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73368" y="3694176"/>
            <a:ext cx="384048" cy="384048"/>
          </a:xfrm>
          <a:prstGeom prst="ellipse">
            <a:avLst/>
          </a:prstGeom>
          <a:solidFill>
            <a:srgbClr val="4FC3A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73368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40296" y="35478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 harm by design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940296" y="384048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split at ingest, data-minimised aggregation store, published scoring weights.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4553712"/>
            <a:ext cx="5321808" cy="1005840"/>
          </a:xfrm>
          <a:prstGeom prst="roundRect">
            <a:avLst>
              <a:gd name="adj" fmla="val 5455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" y="4864608"/>
            <a:ext cx="384048" cy="384048"/>
          </a:xfrm>
          <a:prstGeom prst="ellipse">
            <a:avLst/>
          </a:prstGeom>
          <a:solidFill>
            <a:srgbClr val="4FC3A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1248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408176" y="471830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relevance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1408176" y="5010912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6.1, 7.1, 9.1 and 16.7 — responsive, participatory decision-making is the direct one.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99048" y="4553712"/>
            <a:ext cx="5321808" cy="1005840"/>
          </a:xfrm>
          <a:prstGeom prst="roundRect">
            <a:avLst>
              <a:gd name="adj" fmla="val 5455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73368" y="4864608"/>
            <a:ext cx="384048" cy="384048"/>
          </a:xfrm>
          <a:prstGeom prst="ellipse">
            <a:avLst/>
          </a:prstGeom>
          <a:solidFill>
            <a:srgbClr val="4FC3A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73368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940296" y="471830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Adoptable by any member state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6940296" y="5010912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packs and deficit indices are configuration, not a rewrite.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6C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 ·  BRICS+ TRACK 1  ·  DIGITAL PUBLIC INFRASTRUCTURE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1073384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runs today, and what does not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plainly, because a judge will find it anyway and an overclaim costs more than a gap.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395728"/>
            <a:ext cx="5321808" cy="3246120"/>
          </a:xfrm>
          <a:prstGeom prst="roundRect">
            <a:avLst>
              <a:gd name="adj" fmla="val 1690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6517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C3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now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054096"/>
            <a:ext cx="47000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lexicon triage across 8 languages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Sector, secondary-sector and urgency tagging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routing to a human review queue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Geotagged civic records with PII stripped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aggregation as rates per 100k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priority engine with live weights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Latent-demand correction and voice-gap table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Plan-divergence reporting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Keyboard-accessible 3D demand globe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99048" y="2395728"/>
            <a:ext cx="5321808" cy="3246120"/>
          </a:xfrm>
          <a:prstGeom prst="roundRect">
            <a:avLst>
              <a:gd name="adj" fmla="val 1690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28232" y="26517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Stubbed or missing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28232" y="3054096"/>
            <a:ext cx="47000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— samples are pre-transcribed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— pivot strings are fixed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 clustering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datasets: the cohort is 16 synthetic units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FX rates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multi-tenancy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6C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 ·  BRICS+ TRACK 1  ·  DIGITAL PUBLIC INFRASTRUCTURE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1073384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WOULD KNOW IT WORKED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metrics, only one of which is evidence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10881360" cy="804672"/>
          </a:xfrm>
          <a:prstGeom prst="roundRect">
            <a:avLst>
              <a:gd name="adj" fmla="val 6818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404872"/>
            <a:ext cx="384048" cy="384048"/>
          </a:xfrm>
          <a:prstGeom prst="ellipse">
            <a:avLst/>
          </a:prstGeom>
          <a:solidFill>
            <a:srgbClr val="4FC3A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26464" y="2194560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584448" y="2194560"/>
            <a:ext cx="7589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districts filing 50+ requests per 100k per quarter, and the voice gap’s variance falling over time.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3108960"/>
            <a:ext cx="10881360" cy="804672"/>
          </a:xfrm>
          <a:prstGeom prst="roundRect">
            <a:avLst>
              <a:gd name="adj" fmla="val 6818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3319272"/>
            <a:ext cx="384048" cy="384048"/>
          </a:xfrm>
          <a:prstGeom prst="ellipse">
            <a:avLst/>
          </a:prstGeom>
          <a:solidFill>
            <a:srgbClr val="4FC3A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26464" y="3108960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 quality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84448" y="3108960"/>
            <a:ext cx="7589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reported per language, never pooled. A floor of 0.75 on the weakest language before any recommendation ships — an aggregate score hides failure in low-resource languages.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023360"/>
            <a:ext cx="10881360" cy="804672"/>
          </a:xfrm>
          <a:prstGeom prst="roundRect">
            <a:avLst>
              <a:gd name="adj" fmla="val 6818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4233672"/>
            <a:ext cx="384048" cy="384048"/>
          </a:xfrm>
          <a:prstGeom prst="ellipse">
            <a:avLst/>
          </a:prstGeom>
          <a:solidFill>
            <a:srgbClr val="4FC3A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26464" y="4023360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Alignment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584448" y="4023360"/>
            <a:ext cx="7589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correlation between Setu’s order and the next budget cycle’s actual allocations.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937760"/>
            <a:ext cx="10881360" cy="804672"/>
          </a:xfrm>
          <a:prstGeom prst="roundRect">
            <a:avLst>
              <a:gd name="adj" fmla="val 6818"/>
            </a:avLst>
          </a:prstGeom>
          <a:solidFill>
            <a:srgbClr val="1E2A27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5148072"/>
            <a:ext cx="384048" cy="384048"/>
          </a:xfrm>
          <a:prstGeom prst="ellipse">
            <a:avLst/>
          </a:prstGeom>
          <a:solidFill>
            <a:srgbClr val="E0A4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" y="5148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26464" y="4937760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584448" y="4937760"/>
            <a:ext cx="7589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the infrastructure deficit index in funded units against matched unfunded controls at 24 months.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592531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A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three are necessary conditions. Only the fourth says the platform mattered.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6C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 ·  BRICS+ TRACK 1  ·  DIGITAL PUBLIC INFRASTRUCTURE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1073384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243938"/>
            <a:ext cx="45720" cy="590702"/>
          </a:xfrm>
          <a:prstGeom prst="rect">
            <a:avLst/>
          </a:prstGeom>
          <a:solidFill>
            <a:srgbClr val="2E8C7C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106838"/>
            <a:ext cx="45720" cy="1727802"/>
          </a:xfrm>
          <a:prstGeom prst="rect">
            <a:avLst/>
          </a:prstGeom>
          <a:solidFill>
            <a:srgbClr val="4FC3AE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" y="1950919"/>
            <a:ext cx="45720" cy="883721"/>
          </a:xfrm>
          <a:prstGeom prst="rect">
            <a:avLst/>
          </a:prstGeom>
          <a:solidFill>
            <a:srgbClr val="E0A43B"/>
          </a:solidFill>
          <a:ln/>
        </p:spPr>
      </p:sp>
      <p:sp>
        <p:nvSpPr>
          <p:cNvPr id="5" name="Shape 3"/>
          <p:cNvSpPr/>
          <p:nvPr/>
        </p:nvSpPr>
        <p:spPr>
          <a:xfrm>
            <a:off x="923544" y="1182345"/>
            <a:ext cx="45720" cy="1652295"/>
          </a:xfrm>
          <a:prstGeom prst="rect">
            <a:avLst/>
          </a:prstGeom>
          <a:solidFill>
            <a:srgbClr val="DE7B45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1677359"/>
            <a:ext cx="45720" cy="1157281"/>
          </a:xfrm>
          <a:prstGeom prst="rect">
            <a:avLst/>
          </a:prstGeom>
          <a:solidFill>
            <a:srgbClr val="E2705F"/>
          </a:solidFill>
          <a:ln/>
        </p:spPr>
      </p:sp>
      <p:sp>
        <p:nvSpPr>
          <p:cNvPr id="7" name="Shape 5"/>
          <p:cNvSpPr/>
          <p:nvPr/>
        </p:nvSpPr>
        <p:spPr>
          <a:xfrm>
            <a:off x="1161288" y="1328346"/>
            <a:ext cx="45720" cy="1506294"/>
          </a:xfrm>
          <a:prstGeom prst="rect">
            <a:avLst/>
          </a:prstGeom>
          <a:solidFill>
            <a:srgbClr val="4FC3A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1441421"/>
            <a:ext cx="45720" cy="1393219"/>
          </a:xfrm>
          <a:prstGeom prst="rect">
            <a:avLst/>
          </a:prstGeom>
          <a:solidFill>
            <a:srgbClr val="2E8C7C"/>
          </a:solidFill>
          <a:ln/>
        </p:spPr>
      </p:sp>
      <p:sp>
        <p:nvSpPr>
          <p:cNvPr id="9" name="Shape 7"/>
          <p:cNvSpPr/>
          <p:nvPr/>
        </p:nvSpPr>
        <p:spPr>
          <a:xfrm>
            <a:off x="1399032" y="1535146"/>
            <a:ext cx="45720" cy="1299494"/>
          </a:xfrm>
          <a:prstGeom prst="rect">
            <a:avLst/>
          </a:prstGeom>
          <a:solidFill>
            <a:srgbClr val="E0A43B"/>
          </a:solidFill>
          <a:ln/>
        </p:spPr>
      </p:sp>
      <p:sp>
        <p:nvSpPr>
          <p:cNvPr id="10" name="Shape 8"/>
          <p:cNvSpPr/>
          <p:nvPr/>
        </p:nvSpPr>
        <p:spPr>
          <a:xfrm>
            <a:off x="1517904" y="1258773"/>
            <a:ext cx="45720" cy="1575867"/>
          </a:xfrm>
          <a:prstGeom prst="rect">
            <a:avLst/>
          </a:prstGeom>
          <a:solidFill>
            <a:srgbClr val="4FC3AE"/>
          </a:solidFill>
          <a:ln/>
        </p:spPr>
      </p:sp>
      <p:sp>
        <p:nvSpPr>
          <p:cNvPr id="11" name="Shape 9"/>
          <p:cNvSpPr/>
          <p:nvPr/>
        </p:nvSpPr>
        <p:spPr>
          <a:xfrm>
            <a:off x="1636776" y="1789012"/>
            <a:ext cx="45720" cy="1045628"/>
          </a:xfrm>
          <a:prstGeom prst="rect">
            <a:avLst/>
          </a:prstGeom>
          <a:solidFill>
            <a:srgbClr val="E2705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" y="3063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30 days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74904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Whisper and NLLB behind the existing interface — the contract already exists, only the implementation is stubbed.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classifier against 2,000 hand-labelled real grievances, reporting per-language F1 separately.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Back-test the ranking against three years of completed projects: did high-scoring units actually show larger outcome gains?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one district administration on real intake, with the voice-gap table public from day one.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73568" y="3063240"/>
            <a:ext cx="3474720" cy="2514600"/>
          </a:xfrm>
          <a:prstGeom prst="roundRect">
            <a:avLst>
              <a:gd name="adj" fmla="val 2182"/>
            </a:avLst>
          </a:prstGeom>
          <a:solidFill>
            <a:srgbClr val="17211F"/>
          </a:solidFill>
          <a:ln w="12700">
            <a:solidFill>
              <a:srgbClr val="1E2A2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02752" y="33101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302752" y="3767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signal to national capital plan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02752" y="4370832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AGPL-3.0  ·  DPG candidate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prototype, 16 units, 8 states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— BRICS Theme: Innovation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6C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 ·  BRICS+ TRACK 1  ·  DIGITAL PUBLIC INFRASTRUCTURE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1073384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8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Setu — Citizen signal to national capital plan</dc:title>
  <dc:subject>PptxGenJS Presentation</dc:subject>
  <dc:creator>Setu</dc:creator>
  <cp:lastModifiedBy>Setu</cp:lastModifiedBy>
  <cp:revision>1</cp:revision>
  <dcterms:created xsi:type="dcterms:W3CDTF">2026-09-30T18:29:49Z</dcterms:created>
  <dcterms:modified xsi:type="dcterms:W3CDTF">2026-09-30T18:29:49Z</dcterms:modified>
</cp:coreProperties>
</file>